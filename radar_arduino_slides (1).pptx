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03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TAUBATÉ  ·  Engenharia de Computação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32588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ULTRASSÔNICO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Arduino e Processing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828800" y="4005072"/>
            <a:ext cx="5486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Sistemas de Controle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do Grupo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64008" cy="41330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4447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H. V. Rodrigues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2316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M. Martins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7200" y="365760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65760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913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P. Mendonça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754880" y="118872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18872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9472" y="14447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M. A. Anbai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754880" y="242316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42316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N. Trottenberg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754880" y="3657600"/>
            <a:ext cx="402336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3657600"/>
            <a:ext cx="50292" cy="10241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3913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F. Silva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777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" y="120700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radar ultrassônico baseado em Arduino Uno R3 com visualização gráfica em tempo real no Processing. O sensor HC-SR04, acoplado a um servo motor SG90, realiza varredura angular de 0° a 180°, detectando obstáculos e exibindo-os em uma interface estilo radar militar.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28600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Integradas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7472" y="31089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(C++) — firmware embarcado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— medição ultrassônica de distância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SG90 — varredura angular precisa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(Java) — interface gráfica em tempo real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serial a 9600 bps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760720" y="77724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777240"/>
            <a:ext cx="50292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8869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852160" y="1527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angular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760720" y="22860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286000"/>
            <a:ext cx="50292" cy="14173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3957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cm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5852160" y="30358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de alerta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60720" y="37947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794760"/>
            <a:ext cx="50292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39044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5852160" y="4544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 serial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777240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777240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896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841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Automática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16128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oscila 0°→180° em passos de 2° com 20 ms entre passos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28600" y="1627632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1627632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746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686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Obstáculos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201168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mede distância e identifica objetos em até 30 cm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28600" y="2478024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2478024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Manual + Timeout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286207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S1/S2 permitem controle direto; retorno automático em 5 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28600" y="3328416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28600" y="3328416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6868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Serial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68680" y="371246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formatados enviados a 9600 bps para o Processing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28600" y="4178808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28600" y="4178808"/>
            <a:ext cx="50292" cy="7498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868680" y="4242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Radar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68680" y="456285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em fullScreen com sweep line, marcadores e alertas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Circuito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804672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804672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" y="877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61872" y="877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61872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 central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877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880" y="1636776"/>
            <a:ext cx="5120640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636776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1709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61872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Servo SG90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61872" y="2020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angular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6032" y="1709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880" y="246888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2468880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0896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61872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261872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ultrassônico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56032" y="2542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2880" y="3300984"/>
            <a:ext cx="5120640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82880" y="3300984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61872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 (×2)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261872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manual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56032" y="33741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82880" y="4133088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82880" y="4133088"/>
            <a:ext cx="5029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0896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261872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220 Ω (×2)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261872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Pull-down dos botões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56032" y="4206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0" y="749808"/>
            <a:ext cx="3474720" cy="4315968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577840" y="822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Pinos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559552" y="1298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9 (PWM)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251192" y="1325880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15200" y="1298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– Sinal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559552" y="1920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10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251192" y="1947672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1520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Trig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559552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11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251192" y="2569464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0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Echo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559552" y="3163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2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251192" y="3191256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15200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Esq. (S1)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559552" y="3785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3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7251192" y="3813048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315200" y="3785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Dir. (S2)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559552" y="4407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/ GND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251192" y="4434840"/>
            <a:ext cx="54864" cy="20116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315200" y="44074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geral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Arduino (C++)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77724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777240"/>
            <a:ext cx="50292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868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medirDistancia()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1170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pulso de 10 µs no Trig, mede duração do Echo com timeout de 30 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1527048"/>
            <a:ext cx="50292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53619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= pulseIn(ECHO, HIGH, 30000) * 0.0343 / 2.0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880" y="210312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2103120"/>
            <a:ext cx="50292" cy="11430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194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Automático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" y="2496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varre 0°→180°→0° em passos de 2° com delay de 20 ms.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0040" y="2852928"/>
            <a:ext cx="50292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86207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angulo += direcao * PASSO; servo.write(angulo);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880" y="342900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3429000"/>
            <a:ext cx="50292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520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Manual + Timeout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0040" y="3822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controlam o ângulo; retorno ao automático após 5 s sem ação.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0040" y="4178808"/>
            <a:ext cx="50292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418795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(millis() - ultimoBotao &gt;= 5000) modoManual = false;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0" y="777240"/>
            <a:ext cx="3291840" cy="43159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60720" y="850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Serial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42432" y="13258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OBJETO | 45deg | 18.3 cm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42432" y="20116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Livre | 90deg | fora de alcance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742432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[MANUAL]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742432" y="33832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[AUTOMATICO]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76072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bps · separador '|'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— Processing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804672"/>
            <a:ext cx="50292" cy="12618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896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896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com Fade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2608" y="130759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fill(0, 20) cria efeito de persistência de fósforo, igual a radares analógicos.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" y="22219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82880" y="2221992"/>
            <a:ext cx="50292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2313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9808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Fundo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2608" y="27249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Arcos concêntricos e linhas radiais a 30° formam a malha do radar.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82880" y="363931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3639312"/>
            <a:ext cx="50292" cy="12618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2608" y="3730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9808" y="3730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Line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2608" y="41422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verde brilhante rotacionada para o ângulo atual, atualizada a cada frame.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804672"/>
            <a:ext cx="50292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8888" y="896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276088" y="896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 de Objeto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818888" y="130759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vermelho (15 px) plotado em coordenadas polares → cartesianas.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09160" y="22219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221992"/>
            <a:ext cx="50292" cy="12618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18888" y="2313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276088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Info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818888" y="27249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Modo, ângulo e distância exibidos; alerta '⚠ OBJETO DETECTADO ⚠' em vermelho.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09160" y="363931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3639312"/>
            <a:ext cx="50292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18888" y="3730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276088" y="3730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Serial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4818888" y="41422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serialEvent() separa campos por '|', extrai ângulo, distância e modo em tempo real.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Operação do Sistema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4340" y="1005840"/>
            <a:ext cx="1234440" cy="1417320"/>
          </a:xfrm>
          <a:prstGeom prst="rect">
            <a:avLst/>
          </a:prstGeom>
          <a:solidFill>
            <a:srgbClr val="0A2540"/>
          </a:solidFill>
          <a:ln w="12700">
            <a:solidFill>
              <a:srgbClr val="2D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0060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0060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→ 0°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9600 bps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687068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42516" y="1005840"/>
            <a:ext cx="12344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58568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8568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88236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Botões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888236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S1/S2 → modo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095244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50692" y="1005840"/>
            <a:ext cx="1234440" cy="1417320"/>
          </a:xfrm>
          <a:prstGeom prst="rect">
            <a:avLst/>
          </a:prstGeom>
          <a:solidFill>
            <a:srgbClr val="0A2540"/>
          </a:solidFill>
          <a:ln w="12700">
            <a:solidFill>
              <a:srgbClr val="2D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66744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66744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296412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296412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ou manual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±2° por ciclo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03420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58868" y="1005840"/>
            <a:ext cx="12344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74920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74920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704588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HC-SR04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704588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Trig → Echo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distância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11596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67044" y="1005840"/>
            <a:ext cx="1234440" cy="1417320"/>
          </a:xfrm>
          <a:prstGeom prst="rect">
            <a:avLst/>
          </a:prstGeom>
          <a:solidFill>
            <a:srgbClr val="0A2540"/>
          </a:solidFill>
          <a:ln w="12700">
            <a:solidFill>
              <a:srgbClr val="2D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83096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8309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12764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Serial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112764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formatados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Processing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319772" y="1691640"/>
            <a:ext cx="1371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75220" y="1005840"/>
            <a:ext cx="12344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891272" y="1097280"/>
            <a:ext cx="402336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9127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520940" y="1554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7520940" y="1901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atualiza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e alertas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48640" y="2715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de varredura (0° → 180° → 0°): ~3,6 s no modo automático  ·  Timeout manual: 5 s  ·  Latência Processing: &lt; 200 ms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914400" y="342900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914400" y="3429000"/>
            <a:ext cx="50292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5156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1051560" y="39136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contínua 0°→180°→0°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de 2° · Delay de 20 ms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120640" y="342900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120640" y="3429000"/>
            <a:ext cx="50292" cy="14630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5780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257800" y="39136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S1 (esq) e S2 (dir)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auto após 5 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Conclusão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58368"/>
            <a:ext cx="64008" cy="4480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7772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Obtidos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472" y="1170432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automática contínua estável, sem falhas de comunicação serial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do HC-SR04 com desvio inferior a 1 cm na faixa de 5–30 cm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manual ↔ automático funcionando corretamente pelo timeout de 5 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Processing sincronizada com latência perceptível &lt; 200 ms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82880" y="2651760"/>
            <a:ext cx="877824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2724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063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integrou com sucesso eletrônica embarcada, firmware em C++, comunicação serial e interface gráfica, resultando em um sistema funcional de baixo custo para detecção de proximidade com visualização em tempo real.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" y="3977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" y="432511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média móvel para maior precisão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2D do ambiente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sonoro proporcional à proximidade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TAUBATÉ  ·  Engenharia de Computação  ·  2026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32588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Ultrassônico com Arduino e Processing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3931920"/>
            <a:ext cx="5486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H. V. Rodrigues  ·  Leonardo M. Martins  ·  Matheus P. Mendonça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M. A. Anbai  ·  Pedro N. Trottenberg  ·  Thiago F. Silva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852</Words>
  <Application>Microsoft Office PowerPoint</Application>
  <PresentationFormat>Apresentação na tela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Ultrassônico com Arduino e Processing</dc:title>
  <dc:subject>PptxGenJS Presentation</dc:subject>
  <dc:creator>PptxGenJS</dc:creator>
  <cp:lastModifiedBy>Pedro Neves Trottenberg</cp:lastModifiedBy>
  <cp:revision>3</cp:revision>
  <dcterms:created xsi:type="dcterms:W3CDTF">2026-04-07T10:45:46Z</dcterms:created>
  <dcterms:modified xsi:type="dcterms:W3CDTF">2026-04-10T11:54:03Z</dcterms:modified>
</cp:coreProperties>
</file>