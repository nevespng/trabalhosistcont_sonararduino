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DE TAUBATÉ  ·  Engenharia de Computação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325880"/>
            <a:ext cx="1234440" cy="1234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651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ULTRASSÔNICO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4015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Arduino e Processing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828800" y="4005072"/>
            <a:ext cx="54864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Sistemas Embarcados  ·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201168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do Grupo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0" y="1005840"/>
            <a:ext cx="64008" cy="413308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188720"/>
            <a:ext cx="4023360" cy="10241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188720"/>
            <a:ext cx="50292" cy="10241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14447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H. V. Rodrigues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57200" y="2423160"/>
            <a:ext cx="4023360" cy="10241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423160"/>
            <a:ext cx="50292" cy="10241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26791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 M. Martins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57200" y="3657600"/>
            <a:ext cx="4023360" cy="10241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3657600"/>
            <a:ext cx="50292" cy="10241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" y="39136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 P. Mendonça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754880" y="1188720"/>
            <a:ext cx="4023360" cy="10241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1188720"/>
            <a:ext cx="50292" cy="10241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19472" y="14447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M. A. Anbai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4754880" y="2423160"/>
            <a:ext cx="4023360" cy="10241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2423160"/>
            <a:ext cx="50292" cy="10241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19472" y="26791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N. Trottenberg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4754880" y="3657600"/>
            <a:ext cx="4023360" cy="10241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0" y="3657600"/>
            <a:ext cx="50292" cy="10241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19472" y="39136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Thiago F. Silva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658368"/>
            <a:ext cx="64008" cy="44805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7772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28600" y="120700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radar ultrassônico baseado em Arduino Uno R3 com visualização gráfica em tempo real no Processing. O sensor HC-SR04, acoplado a um servo motor SG90, realiza varredura angular de 0° a 180°, detectando obstáculos e exibindo-os em uma interface estilo radar militar.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228600" y="27249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Integradas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47472" y="310896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 (C++) — firmware embarcado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— medição ultrassônica de distância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SG90 — varredura angular precisa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(Java) — interface gráfica em tempo real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serial a 9600 bps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760720" y="77724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777240"/>
            <a:ext cx="50292" cy="1417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0" y="8869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180°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5852160" y="15270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Varredura angular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760720" y="228600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60720" y="2286000"/>
            <a:ext cx="50292" cy="14173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39572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cm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5852160" y="30358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de alerta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760720" y="379476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760720" y="3794760"/>
            <a:ext cx="50292" cy="1417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52160" y="390448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9600</a:t>
            </a:r>
            <a:endParaRPr lang="en-US" sz="4000" dirty="0"/>
          </a:p>
        </p:txBody>
      </p:sp>
      <p:sp>
        <p:nvSpPr>
          <p:cNvPr id="21" name="Text 18"/>
          <p:cNvSpPr/>
          <p:nvPr/>
        </p:nvSpPr>
        <p:spPr>
          <a:xfrm>
            <a:off x="5852160" y="45445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 rate serial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658368"/>
            <a:ext cx="64008" cy="448056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777240"/>
            <a:ext cx="8686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777240"/>
            <a:ext cx="50292" cy="74980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896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841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Varredura Automática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1161288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oscila 0°→180° em passos de 2° com 20 ms entre passos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28600" y="1627632"/>
            <a:ext cx="8686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28600" y="1627632"/>
            <a:ext cx="50292" cy="74980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1746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6868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Obstáculos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201168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mede distância e identifica objetos em até 30 cm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228600" y="2478024"/>
            <a:ext cx="8686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28600" y="2478024"/>
            <a:ext cx="50292" cy="74980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2596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68680" y="2542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Manual + Timeout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68680" y="2862072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S1/S2 permitem controle direto; retorno automático em 5 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228600" y="3328416"/>
            <a:ext cx="8686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28600" y="3328416"/>
            <a:ext cx="50292" cy="74980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868680" y="33924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Serial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68680" y="371246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formatados enviados a 9600 bps para o Processing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228600" y="4178808"/>
            <a:ext cx="8686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28600" y="4178808"/>
            <a:ext cx="50292" cy="74980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004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868680" y="42428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Gráfica Radar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68680" y="4562856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Renderização em fullScreen com sweep line, marcadores e alertas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e Circuito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658368"/>
            <a:ext cx="64008" cy="44805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82880" y="804672"/>
            <a:ext cx="5120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2880" y="804672"/>
            <a:ext cx="50292" cy="7132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10896" y="8778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61872" y="877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261872" y="1188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Microcontrolador central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56032" y="8778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82880" y="1636776"/>
            <a:ext cx="5120640" cy="713232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82880" y="1636776"/>
            <a:ext cx="50292" cy="7132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0896" y="1709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61872" y="1709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Servo SG90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261872" y="20208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 angular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56032" y="17099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82880" y="2468880"/>
            <a:ext cx="5120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82880" y="2468880"/>
            <a:ext cx="50292" cy="7132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0896" y="2542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DIST1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261872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261872" y="2852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ultrassônico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56032" y="25420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82880" y="3300984"/>
            <a:ext cx="5120640" cy="713232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82880" y="3300984"/>
            <a:ext cx="50292" cy="7132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10896" y="3374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S1, S2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261872" y="3374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Button (×2)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261872" y="3685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manual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56032" y="33741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S1, S2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82880" y="4133088"/>
            <a:ext cx="5120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82880" y="4133088"/>
            <a:ext cx="50292" cy="7132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10896" y="4206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 R2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261872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Resistor 220 Ω (×2)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1261872" y="4517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Pull-down dos botões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256032" y="4206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 R2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486400" y="749808"/>
            <a:ext cx="3474720" cy="4315968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5577840" y="822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Pinos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5559552" y="12984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 9 (PWM)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7251192" y="1325880"/>
            <a:ext cx="54864" cy="20116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315200" y="12984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SG90 – Sinal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559552" y="19202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 10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7251192" y="1947672"/>
            <a:ext cx="54864" cy="20116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315200" y="1920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Trig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5559552" y="25420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 11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7251192" y="2569464"/>
            <a:ext cx="54864" cy="20116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315200" y="2542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Echo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5559552" y="31638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 2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7251192" y="3191256"/>
            <a:ext cx="54864" cy="20116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315200" y="31638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Esq. (S1)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5559552" y="37856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 3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7251192" y="3813048"/>
            <a:ext cx="54864" cy="20116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315200" y="3785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Dir. (S2)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5559552" y="44074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/ GND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7251192" y="4434840"/>
            <a:ext cx="54864" cy="20116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315200" y="44074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Alimentação geral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Arduino (C++)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658368"/>
            <a:ext cx="64008" cy="44805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82880" y="777240"/>
            <a:ext cx="5303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2880" y="777240"/>
            <a:ext cx="50292" cy="1143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868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medirDistancia()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0040" y="11704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 pulso de 10 µs no Trig, mede duração do Echo com timeout de 30 ms.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0040" y="1527048"/>
            <a:ext cx="5029200" cy="292608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1536192"/>
            <a:ext cx="4892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 = pulseIn(ECHO, HIGH, 30000) * 0.0343 / 2.0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82880" y="2103120"/>
            <a:ext cx="5303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82880" y="2103120"/>
            <a:ext cx="50292" cy="11430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21945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Automático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20040" y="24963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varre 0°→180°→0° em passos de 2° com delay de 20 ms.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20040" y="2852928"/>
            <a:ext cx="5029200" cy="292608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2862072"/>
            <a:ext cx="4892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angulo += direcao * PASSO; servo.write(angulo);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82880" y="3429000"/>
            <a:ext cx="5303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82880" y="3429000"/>
            <a:ext cx="50292" cy="1143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" y="35204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Manual + Timeout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20040" y="38221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controlam o ângulo; retorno ao automático após 5 s sem ação.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20040" y="4178808"/>
            <a:ext cx="5029200" cy="292608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4048" y="4187952"/>
            <a:ext cx="4892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(millis() - ultimoBotao &gt;= 5000) modoManual = false;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669280" y="777240"/>
            <a:ext cx="3291840" cy="431596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760720" y="8503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Serial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742432" y="132588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OBJETO | 45deg | 18.3 cm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742432" y="201168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Livre | 90deg | fora de alcance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742432" y="269748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[MANUAL]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742432" y="338328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[AUTOMATICO]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760720" y="4251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9600 bps · separador '|'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Gráfica — Processing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658368"/>
            <a:ext cx="64008" cy="448056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82880" y="80467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2880" y="804672"/>
            <a:ext cx="50292" cy="126187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8961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8961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com Fade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92608" y="130759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fill(0, 20) cria efeito de persistência de fósforo, igual a radares analógicos.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82880" y="222199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82880" y="2221992"/>
            <a:ext cx="50292" cy="12618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2608" y="23134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49808" y="23134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de Fundo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292608" y="272491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Arcos concêntricos e linhas radiais a 30° formam a malha do radar.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82880" y="363931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82880" y="3639312"/>
            <a:ext cx="50292" cy="126187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2608" y="3730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49808" y="37307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Line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292608" y="414223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verde brilhante rotacionada para o ângulo atual, atualizada a cada frame.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09160" y="80467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09160" y="804672"/>
            <a:ext cx="50292" cy="12618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18888" y="8961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276088" y="8961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 de Objeto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818888" y="130759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vermelho (15 px) plotado em coordenadas polares → cartesianas.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709160" y="222199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09160" y="2221992"/>
            <a:ext cx="50292" cy="126187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18888" y="23134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276088" y="23134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Info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4818888" y="272491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Modo, ângulo e distância exibidos; alerta '⚠ OBJETO DETECTADO ⚠' em vermelho.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709160" y="363931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709160" y="3639312"/>
            <a:ext cx="50292" cy="12618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18888" y="3730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276088" y="37307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Serial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4818888" y="414223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serialEvent() separa campos por '|', extrai ângulo, distância e modo em tempo real.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Operação do Sistema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658368"/>
            <a:ext cx="64008" cy="44805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34340" y="1005840"/>
            <a:ext cx="1234440" cy="1417320"/>
          </a:xfrm>
          <a:prstGeom prst="rect">
            <a:avLst/>
          </a:prstGeom>
          <a:solidFill>
            <a:srgbClr val="0A2540"/>
          </a:solidFill>
          <a:ln w="12700">
            <a:solidFill>
              <a:srgbClr val="2D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50392" y="1097280"/>
            <a:ext cx="402336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80060" y="15544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Inicialização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80060" y="190195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→ 0°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9600 bps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687068" y="1691640"/>
            <a:ext cx="13716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42516" y="1005840"/>
            <a:ext cx="123444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258568" y="1097280"/>
            <a:ext cx="402336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8568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888236" y="15544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Botões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888236" y="190195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S1/S2 → modo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manual?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095244" y="1691640"/>
            <a:ext cx="13716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50692" y="1005840"/>
            <a:ext cx="1234440" cy="1417320"/>
          </a:xfrm>
          <a:prstGeom prst="rect">
            <a:avLst/>
          </a:prstGeom>
          <a:solidFill>
            <a:srgbClr val="0A2540"/>
          </a:solidFill>
          <a:ln w="12700">
            <a:solidFill>
              <a:srgbClr val="2D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666744" y="1097280"/>
            <a:ext cx="402336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66744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296412" y="15544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Varredura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3296412" y="190195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ou manual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±2° por ciclo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03420" y="1691640"/>
            <a:ext cx="13716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58868" y="1005840"/>
            <a:ext cx="123444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074920" y="1097280"/>
            <a:ext cx="402336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74920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704588" y="15544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 HC-SR04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704588" y="190195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Trig → Echo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distância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911596" y="1691640"/>
            <a:ext cx="13716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67044" y="1005840"/>
            <a:ext cx="1234440" cy="1417320"/>
          </a:xfrm>
          <a:prstGeom prst="rect">
            <a:avLst/>
          </a:prstGeom>
          <a:solidFill>
            <a:srgbClr val="0A2540"/>
          </a:solidFill>
          <a:ln w="12700">
            <a:solidFill>
              <a:srgbClr val="2D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483096" y="1097280"/>
            <a:ext cx="402336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83096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112764" y="15544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Serial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6112764" y="190195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formatados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Processing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7319772" y="1691640"/>
            <a:ext cx="13716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475220" y="1005840"/>
            <a:ext cx="123444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7891272" y="1097280"/>
            <a:ext cx="402336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91272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520940" y="15544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Renderização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7520940" y="190195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atualiza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e alertas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548640" y="27157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completo de varredura (0° → 180° → 0°): ~3,6 s no modo automático  ·  Timeout manual: 5 s  ·  Latência Processing: &lt; 200 ms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914400" y="3429000"/>
            <a:ext cx="35661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914400" y="3429000"/>
            <a:ext cx="50292" cy="1463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51560" y="3520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1051560" y="391363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Varredura contínua 0°→180°→0°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de 2° · Delay de 20 ms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5120640" y="3429000"/>
            <a:ext cx="35661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5120640" y="3429000"/>
            <a:ext cx="50292" cy="146304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257800" y="3520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5257800" y="391363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S1 (esq) e S2 (dir)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auto após 5 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Conclusão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658368"/>
            <a:ext cx="64008" cy="44805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77724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Obtidos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47472" y="1170432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Varredura automática contínua estável, sem falhas de comunicação serial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Leituras do HC-SR04 com desvio inferior a 1 cm na faixa de 5–30 cm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Transições manual ↔ automático funcionando corretamente pelo timeout de 5 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Processing sincronizada com latência perceptível &lt; 200 ms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82880" y="2651760"/>
            <a:ext cx="8778240" cy="118872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5760" y="27249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30632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integrou com sucesso eletrônica embarcada, firmware em C++, comunicação serial e interface gráfica, resultando em um sistema funcional de baixo custo para detecção de proximidade com visualização em tempo real.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28600" y="39776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Trabalhos Futuros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7472" y="432511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média móvel para maior precisão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2D do ambiente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sonoro proporcional à proximidade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DE TAUBATÉ  ·  Engenharia de Computação  ·  2026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325880"/>
            <a:ext cx="1234440" cy="1234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651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Ultrassônico com Arduino e Processing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828800" y="3931920"/>
            <a:ext cx="54864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069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H. V. Rodrigues  ·  Leonardo M. Martins  ·  Matheus P. Mendonça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M. A. Anbai  ·  Pedro N. Trottenberg  ·  Thiago F. Silva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Radar Ultrassônico com Arduino e Processing</dc:title>
  <dc:subject>PptxGenJS Presentation</dc:subject>
  <dc:creator>PptxGenJS</dc:creator>
  <cp:lastModifiedBy>PptxGenJS</cp:lastModifiedBy>
  <cp:revision>1</cp:revision>
  <dcterms:created xsi:type="dcterms:W3CDTF">2026-04-07T10:45:46Z</dcterms:created>
  <dcterms:modified xsi:type="dcterms:W3CDTF">2026-04-07T10:45:46Z</dcterms:modified>
</cp:coreProperties>
</file>